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12"/>
  </p:notesMasterIdLst>
  <p:sldIdLst>
    <p:sldId id="256" r:id="rId2"/>
    <p:sldId id="257" r:id="rId3"/>
    <p:sldId id="279" r:id="rId4"/>
    <p:sldId id="258" r:id="rId5"/>
    <p:sldId id="259" r:id="rId6"/>
    <p:sldId id="280" r:id="rId7"/>
    <p:sldId id="276" r:id="rId8"/>
    <p:sldId id="277" r:id="rId9"/>
    <p:sldId id="278" r:id="rId10"/>
    <p:sldId id="275" r:id="rId1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1203" y="3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inesh Rajendran" userId="575dc879778167e6" providerId="LiveId" clId="{44365B87-A422-411E-8FD1-BA2152387B74}"/>
    <pc:docChg chg="modSld sldOrd">
      <pc:chgData name="Abinesh Rajendran" userId="575dc879778167e6" providerId="LiveId" clId="{44365B87-A422-411E-8FD1-BA2152387B74}" dt="2024-05-20T03:21:41.009" v="2"/>
      <pc:docMkLst>
        <pc:docMk/>
      </pc:docMkLst>
      <pc:sldChg chg="ord">
        <pc:chgData name="Abinesh Rajendran" userId="575dc879778167e6" providerId="LiveId" clId="{44365B87-A422-411E-8FD1-BA2152387B74}" dt="2024-05-20T03:21:41.009" v="2"/>
        <pc:sldMkLst>
          <pc:docMk/>
          <pc:sldMk cId="0" sldId="257"/>
        </pc:sldMkLst>
      </pc:sldChg>
      <pc:sldChg chg="modSp mod">
        <pc:chgData name="Abinesh Rajendran" userId="575dc879778167e6" providerId="LiveId" clId="{44365B87-A422-411E-8FD1-BA2152387B74}" dt="2024-05-19T15:00:10.821" v="0" actId="20577"/>
        <pc:sldMkLst>
          <pc:docMk/>
          <pc:sldMk cId="766668201" sldId="276"/>
        </pc:sldMkLst>
        <pc:spChg chg="mod">
          <ac:chgData name="Abinesh Rajendran" userId="575dc879778167e6" providerId="LiveId" clId="{44365B87-A422-411E-8FD1-BA2152387B74}" dt="2024-05-19T15:00:10.821" v="0" actId="20577"/>
          <ac:spMkLst>
            <pc:docMk/>
            <pc:sldMk cId="766668201" sldId="276"/>
            <ac:spMk id="2" creationId="{55613A51-2171-C81F-4744-AB3BFDA5CF2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lvl1pPr marL="457200" lvl="0" indent="-3810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marL="914400" lvl="1" indent="-3556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marL="1371600" lvl="2" indent="-3429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marL="1828800" lvl="3"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marL="2286000" lvl="4"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3"/>
          <p:cNvSpPr/>
          <p:nvPr/>
        </p:nvSpPr>
        <p:spPr>
          <a:xfrm>
            <a:off x="0" y="647700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a:ea typeface="Calibri"/>
                <a:cs typeface="Calibri"/>
                <a:sym typeface="Calibri"/>
              </a:rPr>
              <a:t>Department of Computer Science and Engineering</a:t>
            </a:r>
            <a:endParaRPr sz="1600">
              <a:solidFill>
                <a:srgbClr val="FFFFFF"/>
              </a:solidFill>
              <a:latin typeface="Calibri"/>
              <a:ea typeface="Calibri"/>
              <a:cs typeface="Calibri"/>
              <a:sym typeface="Calibri"/>
            </a:endParaRPr>
          </a:p>
        </p:txBody>
      </p:sp>
      <p:cxnSp>
        <p:nvCxnSpPr>
          <p:cNvPr id="23" name="Google Shape;23;p3"/>
          <p:cNvCxnSpPr/>
          <p:nvPr/>
        </p:nvCxnSpPr>
        <p:spPr>
          <a:xfrm>
            <a:off x="190500" y="914400"/>
            <a:ext cx="8763000" cy="0"/>
          </a:xfrm>
          <a:prstGeom prst="straightConnector1">
            <a:avLst/>
          </a:prstGeom>
          <a:noFill/>
          <a:ln w="9525" cap="flat" cmpd="sng">
            <a:solidFill>
              <a:srgbClr val="D8D8D8"/>
            </a:solidFill>
            <a:prstDash val="solid"/>
            <a:round/>
            <a:headEnd type="none" w="sm" len="sm"/>
            <a:tailEnd type="none" w="sm" len="sm"/>
          </a:ln>
        </p:spPr>
      </p:cxnSp>
      <p:sp>
        <p:nvSpPr>
          <p:cNvPr id="24" name="Google Shape;24;p3"/>
          <p:cNvSpPr/>
          <p:nvPr/>
        </p:nvSpPr>
        <p:spPr>
          <a:xfrm>
            <a:off x="4572000" y="647749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a:ea typeface="Calibri"/>
                <a:cs typeface="Calibri"/>
                <a:sym typeface="Calibri"/>
              </a:rPr>
              <a:t>Rajalakshmi Engineering College 		</a:t>
            </a:r>
            <a:fld id="{00000000-1234-1234-1234-123412341234}" type="slidenum">
              <a:rPr lang="en-US" sz="1600">
                <a:solidFill>
                  <a:srgbClr val="FFFFFF"/>
                </a:solidFill>
                <a:latin typeface="Calibri"/>
                <a:ea typeface="Calibri"/>
                <a:cs typeface="Calibri"/>
                <a:sym typeface="Calibri"/>
              </a:rPr>
              <a:t>‹#›</a:t>
            </a:fld>
            <a:endParaRPr sz="1600">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Open Sans ExtraBold"/>
              <a:buNone/>
              <a:defRPr b="1">
                <a:latin typeface="Open Sans ExtraBold"/>
                <a:ea typeface="Open Sans ExtraBold"/>
                <a:cs typeface="Open Sans ExtraBold"/>
                <a:sym typeface="Open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8" name="Google Shape;2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l="-776" t="63278" r="776" b="-30897"/>
          <a:stretch/>
        </p:blipFill>
        <p:spPr>
          <a:xfrm>
            <a:off x="-72010" y="-2532"/>
            <a:ext cx="9216010" cy="3231811"/>
          </a:xfrm>
          <a:prstGeom prst="rect">
            <a:avLst/>
          </a:prstGeom>
          <a:noFill/>
          <a:ln>
            <a:noFill/>
          </a:ln>
        </p:spPr>
      </p:pic>
      <p:grpSp>
        <p:nvGrpSpPr>
          <p:cNvPr id="89" name="Google Shape;89;p13"/>
          <p:cNvGrpSpPr/>
          <p:nvPr/>
        </p:nvGrpSpPr>
        <p:grpSpPr>
          <a:xfrm>
            <a:off x="-14748" y="986564"/>
            <a:ext cx="9158748" cy="5456716"/>
            <a:chOff x="-14748" y="986564"/>
            <a:chExt cx="9158748" cy="5456716"/>
          </a:xfrm>
        </p:grpSpPr>
        <p:sp>
          <p:nvSpPr>
            <p:cNvPr id="90" name="Google Shape;90;p13"/>
            <p:cNvSpPr txBox="1"/>
            <p:nvPr/>
          </p:nvSpPr>
          <p:spPr>
            <a:xfrm>
              <a:off x="177781" y="4812105"/>
              <a:ext cx="4322209" cy="16311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i="0" u="none" strike="noStrike" cap="none" dirty="0">
                  <a:solidFill>
                    <a:schemeClr val="dk1"/>
                  </a:solidFill>
                  <a:latin typeface="Calibri"/>
                  <a:ea typeface="Calibri"/>
                  <a:cs typeface="Calibri"/>
                  <a:sym typeface="Calibri"/>
                </a:rPr>
                <a:t>210701010 – </a:t>
              </a:r>
              <a:r>
                <a:rPr lang="en-IN" sz="2000" b="1" dirty="0" err="1">
                  <a:solidFill>
                    <a:schemeClr val="dk1"/>
                  </a:solidFill>
                  <a:latin typeface="Calibri"/>
                  <a:ea typeface="Calibri"/>
                  <a:cs typeface="Calibri"/>
                  <a:sym typeface="Calibri"/>
                </a:rPr>
                <a:t>Abinesh</a:t>
              </a:r>
              <a:r>
                <a:rPr lang="en-IN" sz="2000" b="1" dirty="0">
                  <a:solidFill>
                    <a:schemeClr val="dk1"/>
                  </a:solidFill>
                  <a:latin typeface="Calibri"/>
                  <a:ea typeface="Calibri"/>
                  <a:cs typeface="Calibri"/>
                  <a:sym typeface="Calibri"/>
                </a:rPr>
                <a:t> R</a:t>
              </a:r>
              <a:r>
                <a:rPr lang="en-IN" sz="2000" b="1" i="0" u="none" strike="noStrike" cap="none" dirty="0">
                  <a:solidFill>
                    <a:schemeClr val="dk1"/>
                  </a:solidFill>
                  <a:latin typeface="Calibri"/>
                  <a:ea typeface="Calibri"/>
                  <a:cs typeface="Calibri"/>
                  <a:sym typeface="Calibri"/>
                </a:rPr>
                <a:t> </a:t>
              </a:r>
            </a:p>
            <a:p>
              <a:pPr marL="0" marR="0" lvl="0" indent="0" algn="l" rtl="0">
                <a:spcBef>
                  <a:spcPts val="0"/>
                </a:spcBef>
                <a:spcAft>
                  <a:spcPts val="0"/>
                </a:spcAft>
                <a:buNone/>
              </a:pPr>
              <a:r>
                <a:rPr lang="en-IN" sz="2000" b="1" i="0" u="none" strike="noStrike" cap="none" dirty="0">
                  <a:solidFill>
                    <a:schemeClr val="dk1"/>
                  </a:solidFill>
                  <a:latin typeface="Calibri"/>
                  <a:ea typeface="Calibri"/>
                  <a:cs typeface="Calibri"/>
                  <a:sym typeface="Calibri"/>
                </a:rPr>
                <a:t>210701025 – Alwyn Jose L</a:t>
              </a:r>
              <a:endParaRPr dirty="0"/>
            </a:p>
            <a:p>
              <a:pPr marL="0" marR="0" lvl="0" indent="0" algn="l" rtl="0">
                <a:spcBef>
                  <a:spcPts val="0"/>
                </a:spcBef>
                <a:spcAft>
                  <a:spcPts val="0"/>
                </a:spcAft>
                <a:buNone/>
              </a:pPr>
              <a:r>
                <a:rPr lang="en-IN" sz="2000" b="1" dirty="0" err="1">
                  <a:solidFill>
                    <a:schemeClr val="dk1"/>
                  </a:solidFill>
                  <a:latin typeface="Calibri"/>
                  <a:ea typeface="Calibri" panose="020F0502020204030204" pitchFamily="34" charset="0"/>
                  <a:cs typeface="Calibri"/>
                  <a:sym typeface="Calibri"/>
                </a:rPr>
                <a:t>Dr.T.Kumaragurubaran</a:t>
              </a:r>
              <a:r>
                <a:rPr lang="en-IN" sz="2000" b="1" dirty="0">
                  <a:solidFill>
                    <a:schemeClr val="dk1"/>
                  </a:solidFill>
                  <a:latin typeface="Calibri"/>
                  <a:ea typeface="Calibri" panose="020F0502020204030204" pitchFamily="34" charset="0"/>
                  <a:cs typeface="Calibri"/>
                  <a:sym typeface="Calibri"/>
                </a:rPr>
                <a:t>., </a:t>
              </a:r>
              <a:r>
                <a:rPr lang="en-IN" sz="2000" b="1" dirty="0" err="1">
                  <a:solidFill>
                    <a:schemeClr val="dk1"/>
                  </a:solidFill>
                  <a:latin typeface="Calibri"/>
                  <a:ea typeface="Calibri" panose="020F0502020204030204" pitchFamily="34" charset="0"/>
                  <a:cs typeface="Calibri"/>
                  <a:sym typeface="Calibri"/>
                </a:rPr>
                <a:t>M.Tech</a:t>
              </a:r>
              <a:r>
                <a:rPr lang="en-IN" sz="2000" b="1" dirty="0">
                  <a:solidFill>
                    <a:schemeClr val="dk1"/>
                  </a:solidFill>
                  <a:latin typeface="Calibri"/>
                  <a:ea typeface="Calibri" panose="020F0502020204030204" pitchFamily="34" charset="0"/>
                  <a:cs typeface="Calibri"/>
                  <a:sym typeface="Calibri"/>
                </a:rPr>
                <a:t>., </a:t>
              </a:r>
              <a:r>
                <a:rPr lang="en-IN" sz="2000" b="1" dirty="0" err="1">
                  <a:solidFill>
                    <a:schemeClr val="dk1"/>
                  </a:solidFill>
                  <a:latin typeface="Calibri"/>
                  <a:ea typeface="Calibri" panose="020F0502020204030204" pitchFamily="34" charset="0"/>
                  <a:cs typeface="Calibri"/>
                  <a:sym typeface="Calibri"/>
                </a:rPr>
                <a:t>Ph.D</a:t>
              </a:r>
              <a:endParaRPr lang="en-IN" sz="2000" b="1" dirty="0">
                <a:solidFill>
                  <a:schemeClr val="dk1"/>
                </a:solidFill>
                <a:latin typeface="Calibri"/>
                <a:ea typeface="Calibri" panose="020F0502020204030204" pitchFamily="34" charset="0"/>
                <a:cs typeface="Calibri"/>
                <a:sym typeface="Calibri"/>
              </a:endParaRPr>
            </a:p>
            <a:p>
              <a:pPr marL="0" marR="0" lvl="0" indent="0" algn="l" rtl="0">
                <a:spcBef>
                  <a:spcPts val="0"/>
                </a:spcBef>
                <a:spcAft>
                  <a:spcPts val="0"/>
                </a:spcAft>
                <a:buNone/>
              </a:pPr>
              <a:r>
                <a:rPr lang="en-IN" sz="2000" b="1" dirty="0">
                  <a:solidFill>
                    <a:schemeClr val="dk1"/>
                  </a:solidFill>
                  <a:effectLst/>
                  <a:latin typeface="Calibri"/>
                  <a:ea typeface="Calibri" panose="020F0502020204030204" pitchFamily="34" charset="0"/>
                  <a:cs typeface="Calibri"/>
                  <a:sym typeface="Calibri"/>
                </a:rPr>
                <a:t>Computer Science and Engineering Department - REC</a:t>
              </a:r>
            </a:p>
          </p:txBody>
        </p:sp>
        <p:grpSp>
          <p:nvGrpSpPr>
            <p:cNvPr id="91" name="Google Shape;91;p13"/>
            <p:cNvGrpSpPr/>
            <p:nvPr/>
          </p:nvGrpSpPr>
          <p:grpSpPr>
            <a:xfrm>
              <a:off x="-14748" y="986564"/>
              <a:ext cx="9158748" cy="4161287"/>
              <a:chOff x="-14748" y="986564"/>
              <a:chExt cx="9158748" cy="4161287"/>
            </a:xfrm>
          </p:grpSpPr>
          <p:sp>
            <p:nvSpPr>
              <p:cNvPr id="92" name="Google Shape;92;p13"/>
              <p:cNvSpPr/>
              <p:nvPr/>
            </p:nvSpPr>
            <p:spPr>
              <a:xfrm>
                <a:off x="5003203" y="1761199"/>
                <a:ext cx="4140797" cy="2622445"/>
              </a:xfrm>
              <a:custGeom>
                <a:avLst/>
                <a:gdLst/>
                <a:ahLst/>
                <a:cxnLst/>
                <a:rect l="l" t="t" r="r" b="b"/>
                <a:pathLst>
                  <a:path w="4140797" h="2622445" extrusionOk="0">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 name="Google Shape;93;p13"/>
              <p:cNvSpPr/>
              <p:nvPr/>
            </p:nvSpPr>
            <p:spPr>
              <a:xfrm>
                <a:off x="0" y="1529371"/>
                <a:ext cx="5743977" cy="3086100"/>
              </a:xfrm>
              <a:prstGeom prst="homePlate">
                <a:avLst>
                  <a:gd name="adj" fmla="val 50000"/>
                </a:avLst>
              </a:prstGeom>
              <a:solidFill>
                <a:srgbClr val="59595B"/>
              </a:solidFill>
              <a:ln w="25400" cap="flat" cmpd="sng">
                <a:solidFill>
                  <a:srgbClr val="59595B"/>
                </a:solidFill>
                <a:prstDash val="solid"/>
                <a:round/>
                <a:headEnd type="none" w="sm" len="sm"/>
                <a:tailEnd type="none" w="sm" len="sm"/>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94" name="Google Shape;94;p13"/>
              <p:cNvGrpSpPr/>
              <p:nvPr/>
            </p:nvGrpSpPr>
            <p:grpSpPr>
              <a:xfrm>
                <a:off x="-14748" y="986564"/>
                <a:ext cx="4014973" cy="1075928"/>
                <a:chOff x="-19391" y="1011603"/>
                <a:chExt cx="5278947" cy="1075928"/>
              </a:xfrm>
            </p:grpSpPr>
            <p:sp>
              <p:nvSpPr>
                <p:cNvPr id="95" name="Google Shape;95;p13"/>
                <p:cNvSpPr/>
                <p:nvPr/>
              </p:nvSpPr>
              <p:spPr>
                <a:xfrm>
                  <a:off x="-19391" y="1011603"/>
                  <a:ext cx="5278947" cy="1075928"/>
                </a:xfrm>
                <a:prstGeom prst="homePlate">
                  <a:avLst>
                    <a:gd name="adj" fmla="val 50000"/>
                  </a:avLst>
                </a:prstGeom>
                <a:solidFill>
                  <a:srgbClr val="00AAAD"/>
                </a:solidFill>
                <a:ln>
                  <a:noFill/>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 name="Google Shape;96;p13"/>
                <p:cNvSpPr txBox="1"/>
                <p:nvPr/>
              </p:nvSpPr>
              <p:spPr>
                <a:xfrm>
                  <a:off x="237041" y="1072534"/>
                  <a:ext cx="4181886" cy="95406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IN" sz="2800" dirty="0"/>
                    <a:t>Mental Health Instruction </a:t>
                  </a:r>
                  <a:endParaRPr sz="2800" dirty="0"/>
                </a:p>
              </p:txBody>
            </p:sp>
          </p:grpSp>
          <p:sp>
            <p:nvSpPr>
              <p:cNvPr id="97" name="Google Shape;97;p13"/>
              <p:cNvSpPr txBox="1"/>
              <p:nvPr/>
            </p:nvSpPr>
            <p:spPr>
              <a:xfrm>
                <a:off x="177782" y="2100903"/>
                <a:ext cx="4188156" cy="304694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dirty="0">
                    <a:solidFill>
                      <a:schemeClr val="lt1"/>
                    </a:solidFill>
                    <a:latin typeface="Calibri"/>
                    <a:ea typeface="Calibri"/>
                    <a:cs typeface="Calibri"/>
                    <a:sym typeface="Calibri"/>
                  </a:rPr>
                  <a:t>CHATBOT – Mental Health Instruction</a:t>
                </a:r>
              </a:p>
              <a:p>
                <a:pPr marL="0" marR="0" lvl="0" indent="0" algn="l" rtl="0">
                  <a:spcBef>
                    <a:spcPts val="0"/>
                  </a:spcBef>
                  <a:spcAft>
                    <a:spcPts val="0"/>
                  </a:spcAft>
                  <a:buNone/>
                </a:pPr>
                <a:endParaRPr sz="4800" dirty="0"/>
              </a:p>
            </p:txBody>
          </p:sp>
          <p:sp>
            <p:nvSpPr>
              <p:cNvPr id="98" name="Google Shape;98;p13"/>
              <p:cNvSpPr/>
              <p:nvPr/>
            </p:nvSpPr>
            <p:spPr>
              <a:xfrm>
                <a:off x="4652237" y="1529372"/>
                <a:ext cx="1672363" cy="3086099"/>
              </a:xfrm>
              <a:custGeom>
                <a:avLst/>
                <a:gdLst/>
                <a:ahLst/>
                <a:cxnLst/>
                <a:rect l="l" t="t" r="r" b="b"/>
                <a:pathLst>
                  <a:path w="1672363" h="3086099" extrusionOk="0">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pic>
        <p:nvPicPr>
          <p:cNvPr id="99" name="Google Shape;99;p13"/>
          <p:cNvPicPr preferRelativeResize="0"/>
          <p:nvPr/>
        </p:nvPicPr>
        <p:blipFill rotWithShape="1">
          <a:blip r:embed="rId4">
            <a:alphaModFix/>
          </a:blip>
          <a:srcRect/>
          <a:stretch/>
        </p:blipFill>
        <p:spPr>
          <a:xfrm>
            <a:off x="6725512" y="4812105"/>
            <a:ext cx="1813542" cy="15415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5400" b="1" dirty="0">
                <a:latin typeface="Calibri"/>
                <a:ea typeface="Calibri"/>
                <a:cs typeface="Calibri"/>
                <a:sym typeface="Calibri"/>
              </a:rPr>
              <a:t>Problem Statement</a:t>
            </a:r>
            <a:endParaRPr sz="5400" b="1" dirty="0">
              <a:latin typeface="Calibri"/>
              <a:ea typeface="Calibri"/>
              <a:cs typeface="Calibri"/>
              <a:sym typeface="Calibri"/>
            </a:endParaRPr>
          </a:p>
        </p:txBody>
      </p:sp>
      <p:sp>
        <p:nvSpPr>
          <p:cNvPr id="106" name="Google Shape;106;p14"/>
          <p:cNvSpPr txBox="1">
            <a:spLocks noGrp="1"/>
          </p:cNvSpPr>
          <p:nvPr>
            <p:ph type="body" idx="1"/>
          </p:nvPr>
        </p:nvSpPr>
        <p:spPr>
          <a:xfrm>
            <a:off x="190500" y="1055914"/>
            <a:ext cx="8763000" cy="5334000"/>
          </a:xfrm>
          <a:prstGeom prst="rect">
            <a:avLst/>
          </a:prstGeom>
          <a:noFill/>
          <a:ln>
            <a:noFill/>
          </a:ln>
        </p:spPr>
        <p:txBody>
          <a:bodyPr spcFirstLastPara="1" wrap="square" lIns="91425" tIns="45700" rIns="91425" bIns="45700" anchor="t" anchorCtr="0">
            <a:normAutofit/>
          </a:bodyPr>
          <a:lstStyle/>
          <a:p>
            <a:pPr marL="0" lvl="0" indent="0" algn="just" rtl="0">
              <a:lnSpc>
                <a:spcPct val="114000"/>
              </a:lnSpc>
              <a:spcBef>
                <a:spcPts val="0"/>
              </a:spcBef>
              <a:spcAft>
                <a:spcPts val="0"/>
              </a:spcAft>
              <a:buClr>
                <a:schemeClr val="dk1"/>
              </a:buClr>
              <a:buSzPts val="2400"/>
              <a:buNone/>
            </a:pPr>
            <a:r>
              <a:rPr lang="en-IN" sz="2800" dirty="0"/>
              <a:t>How can we utilize AI chatbot and ML to handle our mental distress such as Anxiety, depression and suicidal thoughts.</a:t>
            </a:r>
            <a:endParaRPr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52440-7F51-BFCB-12EE-EF54766BC5DB}"/>
              </a:ext>
            </a:extLst>
          </p:cNvPr>
          <p:cNvSpPr>
            <a:spLocks noGrp="1"/>
          </p:cNvSpPr>
          <p:nvPr>
            <p:ph type="title"/>
          </p:nvPr>
        </p:nvSpPr>
        <p:spPr/>
        <p:txBody>
          <a:bodyPr/>
          <a:lstStyle/>
          <a:p>
            <a:r>
              <a:rPr lang="en-US" b="1" dirty="0"/>
              <a:t>Abstract</a:t>
            </a:r>
            <a:endParaRPr lang="en-IN" b="1" dirty="0"/>
          </a:p>
        </p:txBody>
      </p:sp>
      <p:sp>
        <p:nvSpPr>
          <p:cNvPr id="3" name="Text Placeholder 2">
            <a:extLst>
              <a:ext uri="{FF2B5EF4-FFF2-40B4-BE49-F238E27FC236}">
                <a16:creationId xmlns:a16="http://schemas.microsoft.com/office/drawing/2014/main" id="{818C17BD-5C45-4D6D-C1D3-F17AEE826150}"/>
              </a:ext>
            </a:extLst>
          </p:cNvPr>
          <p:cNvSpPr>
            <a:spLocks noGrp="1"/>
          </p:cNvSpPr>
          <p:nvPr>
            <p:ph type="body" idx="1"/>
          </p:nvPr>
        </p:nvSpPr>
        <p:spPr/>
        <p:txBody>
          <a:bodyPr/>
          <a:lstStyle/>
          <a:p>
            <a:r>
              <a:rPr lang="en-US" dirty="0"/>
              <a:t>Mental health chatbot is an innovative voice-based mental health chatbot exclusively tailored to meet the diverse needs of students. Powered by cutting-edge natural language processing (NLP) technology, It offers personalized support for prevalent student challenges like stress, anxiety, and depression, all through empathetic voice interactions. Its intuitive interface provides real-time coping strategies, mindfulness exercises, and access to curated resources, empowering students to proactively manage their mental well-being. Upholding stringent privacy standards, It ensures confidentiality and creates a safe space for students to seek guidance and support without judgment. </a:t>
            </a:r>
            <a:endParaRPr lang="en-IN" dirty="0"/>
          </a:p>
        </p:txBody>
      </p:sp>
    </p:spTree>
    <p:extLst>
      <p:ext uri="{BB962C8B-B14F-4D97-AF65-F5344CB8AC3E}">
        <p14:creationId xmlns:p14="http://schemas.microsoft.com/office/powerpoint/2010/main" val="4119293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5"/>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5400" b="1" dirty="0">
                <a:latin typeface="Calibri"/>
                <a:ea typeface="Calibri"/>
                <a:cs typeface="Calibri"/>
                <a:sym typeface="Calibri"/>
              </a:rPr>
              <a:t>Existing System</a:t>
            </a:r>
            <a:endParaRPr sz="5400" b="1" dirty="0">
              <a:latin typeface="Calibri"/>
              <a:ea typeface="Calibri"/>
              <a:cs typeface="Calibri"/>
              <a:sym typeface="Calibri"/>
            </a:endParaRPr>
          </a:p>
        </p:txBody>
      </p:sp>
      <p:sp>
        <p:nvSpPr>
          <p:cNvPr id="113" name="Google Shape;113;p15"/>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just" rtl="0">
              <a:lnSpc>
                <a:spcPct val="114000"/>
              </a:lnSpc>
              <a:spcBef>
                <a:spcPts val="0"/>
              </a:spcBef>
              <a:spcAft>
                <a:spcPts val="0"/>
              </a:spcAft>
              <a:buClr>
                <a:schemeClr val="dk1"/>
              </a:buClr>
              <a:buSzPts val="2400"/>
              <a:buFont typeface="Noto Sans Symbols"/>
              <a:buChar char="▪"/>
            </a:pPr>
            <a:r>
              <a:rPr lang="en-IN" dirty="0"/>
              <a:t>There are few chatbots that already exist such as WOEBOT,WYSA etc</a:t>
            </a:r>
          </a:p>
          <a:p>
            <a:pPr marL="342900" lvl="0" indent="-342900" algn="just" rtl="0">
              <a:lnSpc>
                <a:spcPct val="114000"/>
              </a:lnSpc>
              <a:spcBef>
                <a:spcPts val="0"/>
              </a:spcBef>
              <a:spcAft>
                <a:spcPts val="0"/>
              </a:spcAft>
              <a:buClr>
                <a:schemeClr val="dk1"/>
              </a:buClr>
              <a:buSzPts val="2400"/>
              <a:buFont typeface="Noto Sans Symbols"/>
              <a:buChar char="▪"/>
            </a:pPr>
            <a:r>
              <a:rPr lang="en-US" dirty="0"/>
              <a:t>Privacy issues with data collected.</a:t>
            </a:r>
          </a:p>
          <a:p>
            <a:pPr marL="342900" lvl="0" indent="-342900" algn="just" rtl="0">
              <a:lnSpc>
                <a:spcPct val="114000"/>
              </a:lnSpc>
              <a:spcBef>
                <a:spcPts val="0"/>
              </a:spcBef>
              <a:spcAft>
                <a:spcPts val="0"/>
              </a:spcAft>
              <a:buClr>
                <a:schemeClr val="dk1"/>
              </a:buClr>
              <a:buSzPts val="2400"/>
              <a:buFont typeface="Noto Sans Symbols"/>
              <a:buChar char="▪"/>
            </a:pPr>
            <a:r>
              <a:rPr lang="en-US" dirty="0"/>
              <a:t>Lacks personalized deep insights.</a:t>
            </a:r>
          </a:p>
          <a:p>
            <a:pPr marL="342900" indent="-342900" algn="just">
              <a:spcBef>
                <a:spcPts val="0"/>
              </a:spcBef>
            </a:pPr>
            <a:r>
              <a:rPr lang="en-US" dirty="0"/>
              <a:t>Limited by predefined responses , which can make their interactions feel repetitive and impersonal.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b="1" dirty="0"/>
              <a:t>Proposed System</a:t>
            </a:r>
            <a:endParaRPr b="1" dirty="0">
              <a:latin typeface="Calibri"/>
              <a:ea typeface="Calibri"/>
              <a:cs typeface="Calibri"/>
              <a:sym typeface="Calibri"/>
            </a:endParaRPr>
          </a:p>
        </p:txBody>
      </p:sp>
      <p:sp>
        <p:nvSpPr>
          <p:cNvPr id="120" name="Google Shape;120;p16"/>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indent="-342900">
              <a:spcBef>
                <a:spcPts val="0"/>
              </a:spcBef>
            </a:pPr>
            <a:r>
              <a:rPr lang="en-US" dirty="0"/>
              <a:t>By transitioning from predefined responses to dynamically generated ones using advanced NLP and APIs, the proposed system aims to create a more responsive, empathetic, and effective mental health chatbot.</a:t>
            </a:r>
            <a:r>
              <a:rPr lang="en-IN" dirty="0"/>
              <a:t>      </a:t>
            </a:r>
            <a:endParaRPr lang="en-US" dirty="0"/>
          </a:p>
          <a:p>
            <a:pPr marL="342900" indent="-342900">
              <a:spcBef>
                <a:spcPts val="0"/>
              </a:spcBef>
            </a:pPr>
            <a:r>
              <a:rPr lang="en-US" dirty="0"/>
              <a:t>The proposed system aims to address the limitations of existing mental health chatbots by enhancing personalization, improving emotional recognition, ensuring privacy and expanding accessibility. These improvements are designed to provide more effective, empathetic, and secure mental health support.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28310-1528-E860-DBC7-B2D61843768B}"/>
              </a:ext>
            </a:extLst>
          </p:cNvPr>
          <p:cNvSpPr>
            <a:spLocks noGrp="1"/>
          </p:cNvSpPr>
          <p:nvPr>
            <p:ph type="title"/>
          </p:nvPr>
        </p:nvSpPr>
        <p:spPr/>
        <p:txBody>
          <a:bodyPr/>
          <a:lstStyle/>
          <a:p>
            <a:r>
              <a:rPr lang="en-US" b="1" dirty="0"/>
              <a:t>System Architecture</a:t>
            </a:r>
            <a:endParaRPr lang="en-IN" b="1" dirty="0"/>
          </a:p>
        </p:txBody>
      </p:sp>
      <p:sp>
        <p:nvSpPr>
          <p:cNvPr id="3" name="Text Placeholder 2">
            <a:extLst>
              <a:ext uri="{FF2B5EF4-FFF2-40B4-BE49-F238E27FC236}">
                <a16:creationId xmlns:a16="http://schemas.microsoft.com/office/drawing/2014/main" id="{22B9F4EA-8076-0835-09AA-1FDD0A6C073B}"/>
              </a:ext>
            </a:extLst>
          </p:cNvPr>
          <p:cNvSpPr>
            <a:spLocks noGrp="1"/>
          </p:cNvSpPr>
          <p:nvPr>
            <p:ph type="body" idx="1"/>
          </p:nvPr>
        </p:nvSpPr>
        <p:spPr/>
        <p:txBody>
          <a:bodyPr/>
          <a:lstStyle/>
          <a:p>
            <a:endParaRPr lang="en-IN" dirty="0"/>
          </a:p>
        </p:txBody>
      </p:sp>
      <p:pic>
        <p:nvPicPr>
          <p:cNvPr id="4" name="Picture 3">
            <a:extLst>
              <a:ext uri="{FF2B5EF4-FFF2-40B4-BE49-F238E27FC236}">
                <a16:creationId xmlns:a16="http://schemas.microsoft.com/office/drawing/2014/main" id="{ECC39852-7F8F-E248-6FF3-A6FF96CF13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 y="990600"/>
            <a:ext cx="8763000" cy="4630278"/>
          </a:xfrm>
          <a:prstGeom prst="rect">
            <a:avLst/>
          </a:prstGeom>
        </p:spPr>
      </p:pic>
    </p:spTree>
    <p:extLst>
      <p:ext uri="{BB962C8B-B14F-4D97-AF65-F5344CB8AC3E}">
        <p14:creationId xmlns:p14="http://schemas.microsoft.com/office/powerpoint/2010/main" val="645151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13A51-2171-C81F-4744-AB3BFDA5CF27}"/>
              </a:ext>
            </a:extLst>
          </p:cNvPr>
          <p:cNvSpPr>
            <a:spLocks noGrp="1"/>
          </p:cNvSpPr>
          <p:nvPr>
            <p:ph type="title"/>
          </p:nvPr>
        </p:nvSpPr>
        <p:spPr/>
        <p:txBody>
          <a:bodyPr/>
          <a:lstStyle/>
          <a:p>
            <a:r>
              <a:rPr lang="en-IN" b="1"/>
              <a:t>Modules</a:t>
            </a:r>
            <a:endParaRPr lang="en-IN" b="1" dirty="0"/>
          </a:p>
        </p:txBody>
      </p:sp>
      <p:sp>
        <p:nvSpPr>
          <p:cNvPr id="3" name="Text Placeholder 2">
            <a:extLst>
              <a:ext uri="{FF2B5EF4-FFF2-40B4-BE49-F238E27FC236}">
                <a16:creationId xmlns:a16="http://schemas.microsoft.com/office/drawing/2014/main" id="{A7FD138D-7FCA-B183-A63A-5F5F473D3909}"/>
              </a:ext>
            </a:extLst>
          </p:cNvPr>
          <p:cNvSpPr>
            <a:spLocks noGrp="1"/>
          </p:cNvSpPr>
          <p:nvPr>
            <p:ph type="body" idx="1"/>
          </p:nvPr>
        </p:nvSpPr>
        <p:spPr/>
        <p:txBody>
          <a:bodyPr/>
          <a:lstStyle/>
          <a:p>
            <a:r>
              <a:rPr lang="en-US" dirty="0"/>
              <a:t>This single-module mental health chatbot system integrates advanced NLP, emotional analysis, and context management to provide personalized, empathetic, and secure mental health support. By leveraging dynamic response generation and real-time context awareness, the chatbot can effectively address the unique needs of each user, enhancing their overall mental well-being.</a:t>
            </a:r>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766668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8E9F4-07A3-0AC9-B727-976157AC1A6F}"/>
              </a:ext>
            </a:extLst>
          </p:cNvPr>
          <p:cNvSpPr>
            <a:spLocks noGrp="1"/>
          </p:cNvSpPr>
          <p:nvPr>
            <p:ph type="title"/>
          </p:nvPr>
        </p:nvSpPr>
        <p:spPr/>
        <p:txBody>
          <a:bodyPr/>
          <a:lstStyle/>
          <a:p>
            <a:r>
              <a:rPr lang="en-IN" b="1" dirty="0"/>
              <a:t>Output</a:t>
            </a:r>
          </a:p>
        </p:txBody>
      </p:sp>
      <p:sp>
        <p:nvSpPr>
          <p:cNvPr id="3" name="Text Placeholder 2">
            <a:extLst>
              <a:ext uri="{FF2B5EF4-FFF2-40B4-BE49-F238E27FC236}">
                <a16:creationId xmlns:a16="http://schemas.microsoft.com/office/drawing/2014/main" id="{5D9776B3-3CB6-1D7E-CF55-5BA684E96A41}"/>
              </a:ext>
            </a:extLst>
          </p:cNvPr>
          <p:cNvSpPr>
            <a:spLocks noGrp="1"/>
          </p:cNvSpPr>
          <p:nvPr>
            <p:ph type="body" idx="1"/>
          </p:nvPr>
        </p:nvSpPr>
        <p:spPr/>
        <p:txBody>
          <a:bodyPr/>
          <a:lstStyle/>
          <a:p>
            <a:pPr marL="76200" indent="0">
              <a:buNone/>
            </a:pPr>
            <a:endParaRPr lang="en-IN" dirty="0"/>
          </a:p>
          <a:p>
            <a:pPr marL="76200" indent="0">
              <a:buNone/>
            </a:pPr>
            <a:endParaRPr lang="en-IN" dirty="0"/>
          </a:p>
          <a:p>
            <a:pPr marL="76200" indent="0">
              <a:buNone/>
            </a:pPr>
            <a:endParaRPr lang="en-IN" dirty="0"/>
          </a:p>
          <a:p>
            <a:pPr marL="76200" indent="0">
              <a:buNone/>
            </a:pPr>
            <a:endParaRPr lang="en-IN" dirty="0"/>
          </a:p>
          <a:p>
            <a:pPr marL="76200" indent="0">
              <a:buNone/>
            </a:pPr>
            <a:endParaRPr lang="en-IN" dirty="0"/>
          </a:p>
          <a:p>
            <a:pPr marL="76200" indent="0">
              <a:buNone/>
            </a:pPr>
            <a:endParaRPr lang="en-IN" dirty="0"/>
          </a:p>
          <a:p>
            <a:pPr marL="76200" indent="0">
              <a:buNone/>
            </a:pPr>
            <a:endParaRPr lang="en-IN" dirty="0"/>
          </a:p>
          <a:p>
            <a:pPr marL="76200" indent="0">
              <a:buNone/>
            </a:pPr>
            <a:endParaRPr lang="en-IN" dirty="0"/>
          </a:p>
          <a:p>
            <a:pPr marL="76200" indent="0">
              <a:buNone/>
            </a:pPr>
            <a:endParaRPr lang="en-IN" dirty="0"/>
          </a:p>
          <a:p>
            <a:endParaRPr lang="en-IN" dirty="0"/>
          </a:p>
        </p:txBody>
      </p:sp>
      <p:pic>
        <p:nvPicPr>
          <p:cNvPr id="5" name="Picture 4">
            <a:extLst>
              <a:ext uri="{FF2B5EF4-FFF2-40B4-BE49-F238E27FC236}">
                <a16:creationId xmlns:a16="http://schemas.microsoft.com/office/drawing/2014/main" id="{655CF944-8DE8-D1E9-E7B4-913F3EABF3A0}"/>
              </a:ext>
            </a:extLst>
          </p:cNvPr>
          <p:cNvPicPr>
            <a:picLocks noChangeAspect="1"/>
          </p:cNvPicPr>
          <p:nvPr/>
        </p:nvPicPr>
        <p:blipFill>
          <a:blip r:embed="rId2"/>
          <a:stretch>
            <a:fillRect/>
          </a:stretch>
        </p:blipFill>
        <p:spPr>
          <a:xfrm>
            <a:off x="190500" y="990600"/>
            <a:ext cx="8763000" cy="4191000"/>
          </a:xfrm>
          <a:prstGeom prst="rect">
            <a:avLst/>
          </a:prstGeom>
        </p:spPr>
      </p:pic>
      <p:sp>
        <p:nvSpPr>
          <p:cNvPr id="6" name="TextBox 5">
            <a:extLst>
              <a:ext uri="{FF2B5EF4-FFF2-40B4-BE49-F238E27FC236}">
                <a16:creationId xmlns:a16="http://schemas.microsoft.com/office/drawing/2014/main" id="{3BD5A256-6741-E9DE-D757-59561CAE060F}"/>
              </a:ext>
            </a:extLst>
          </p:cNvPr>
          <p:cNvSpPr txBox="1"/>
          <p:nvPr/>
        </p:nvSpPr>
        <p:spPr>
          <a:xfrm>
            <a:off x="1909312" y="5256362"/>
            <a:ext cx="5451895" cy="461665"/>
          </a:xfrm>
          <a:prstGeom prst="rect">
            <a:avLst/>
          </a:prstGeom>
          <a:noFill/>
        </p:spPr>
        <p:txBody>
          <a:bodyPr wrap="square" rtlCol="0">
            <a:sp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Mental health chatbot with simplified UI</a:t>
            </a:r>
          </a:p>
        </p:txBody>
      </p:sp>
    </p:spTree>
    <p:extLst>
      <p:ext uri="{BB962C8B-B14F-4D97-AF65-F5344CB8AC3E}">
        <p14:creationId xmlns:p14="http://schemas.microsoft.com/office/powerpoint/2010/main" val="2838159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F1410-2866-1C49-D293-418402EBC2C6}"/>
              </a:ext>
            </a:extLst>
          </p:cNvPr>
          <p:cNvSpPr>
            <a:spLocks noGrp="1"/>
          </p:cNvSpPr>
          <p:nvPr>
            <p:ph type="title"/>
          </p:nvPr>
        </p:nvSpPr>
        <p:spPr/>
        <p:txBody>
          <a:bodyPr/>
          <a:lstStyle/>
          <a:p>
            <a:r>
              <a:rPr lang="en-IN" b="1" dirty="0"/>
              <a:t>Conclusion</a:t>
            </a:r>
          </a:p>
        </p:txBody>
      </p:sp>
      <p:sp>
        <p:nvSpPr>
          <p:cNvPr id="3" name="Text Placeholder 2">
            <a:extLst>
              <a:ext uri="{FF2B5EF4-FFF2-40B4-BE49-F238E27FC236}">
                <a16:creationId xmlns:a16="http://schemas.microsoft.com/office/drawing/2014/main" id="{5EBD2AB7-1659-F826-A169-3A0B15DA51DC}"/>
              </a:ext>
            </a:extLst>
          </p:cNvPr>
          <p:cNvSpPr>
            <a:spLocks noGrp="1"/>
          </p:cNvSpPr>
          <p:nvPr>
            <p:ph type="body" idx="1"/>
          </p:nvPr>
        </p:nvSpPr>
        <p:spPr/>
        <p:txBody>
          <a:bodyPr/>
          <a:lstStyle/>
          <a:p>
            <a:r>
              <a:rPr lang="en-US" dirty="0"/>
              <a:t>Our intelligent mental health chatbot leverages advanced NLP and machine learning to deliver personalized, empathetic support. It generates unique, context-aware responses, surpassing the limitations of predefined systems. Key features include dynamic response generation, real-time emotional analysis, and robust context management. Enhanced privacy and security measures protect user data, ensuring confident engagement. This project demonstrates AI's potential to improve mental health care accessibility and effectiveness.</a:t>
            </a:r>
            <a:endParaRPr lang="en-IN" dirty="0"/>
          </a:p>
        </p:txBody>
      </p:sp>
    </p:spTree>
    <p:extLst>
      <p:ext uri="{BB962C8B-B14F-4D97-AF65-F5344CB8AC3E}">
        <p14:creationId xmlns:p14="http://schemas.microsoft.com/office/powerpoint/2010/main" val="1371497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2"/>
          <p:cNvSpPr/>
          <p:nvPr/>
        </p:nvSpPr>
        <p:spPr>
          <a:xfrm>
            <a:off x="1844234" y="2321005"/>
            <a:ext cx="5455532"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600">
                <a:solidFill>
                  <a:schemeClr val="dk1"/>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335</TotalTime>
  <Words>432</Words>
  <Application>Microsoft Office PowerPoint</Application>
  <PresentationFormat>On-screen Show (4:3)</PresentationFormat>
  <Paragraphs>44</Paragraphs>
  <Slides>10</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Noto Sans Symbols</vt:lpstr>
      <vt:lpstr>Open Sans ExtraBold</vt:lpstr>
      <vt:lpstr>Office Theme</vt:lpstr>
      <vt:lpstr>PowerPoint Presentation</vt:lpstr>
      <vt:lpstr>Problem Statement</vt:lpstr>
      <vt:lpstr>Abstract</vt:lpstr>
      <vt:lpstr>Existing System</vt:lpstr>
      <vt:lpstr>Proposed System</vt:lpstr>
      <vt:lpstr>System Architecture</vt:lpstr>
      <vt:lpstr>Modules</vt:lpstr>
      <vt:lpstr>Output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Akshithaa BK Akshithaa BK</dc:creator>
  <cp:lastModifiedBy>Abinesh Rajendran</cp:lastModifiedBy>
  <cp:revision>14</cp:revision>
  <dcterms:modified xsi:type="dcterms:W3CDTF">2024-05-20T03:21:51Z</dcterms:modified>
</cp:coreProperties>
</file>